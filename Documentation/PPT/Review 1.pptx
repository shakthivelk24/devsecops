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81" r:id="rId4"/>
    <p:sldId id="271" r:id="rId5"/>
    <p:sldId id="279" r:id="rId6"/>
    <p:sldId id="273" r:id="rId7"/>
    <p:sldId id="274" r:id="rId8"/>
    <p:sldId id="275" r:id="rId9"/>
    <p:sldId id="284" r:id="rId10"/>
    <p:sldId id="285" r:id="rId11"/>
    <p:sldId id="261" r:id="rId12"/>
    <p:sldId id="287" r:id="rId13"/>
    <p:sldId id="286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4660"/>
  </p:normalViewPr>
  <p:slideViewPr>
    <p:cSldViewPr snapToGrid="0">
      <p:cViewPr varScale="1">
        <p:scale>
          <a:sx n="85" d="100"/>
          <a:sy n="8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881A4-97E0-4626-BA30-074D23D3B5E2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CCE34-49A7-43AF-8BAD-FB84CE1E71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021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370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47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880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77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445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266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0" y="6410138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5374" y="63966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349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847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6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252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690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Dept. of CSE | GAT | 2025-26                                                                                                           CSEP23605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FFAE6D68-FB99-4243-9CC1-93FAA8C005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466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omputer science certificate&#10;&#10;AI-generated content may be incorrect.">
            <a:extLst>
              <a:ext uri="{FF2B5EF4-FFF2-40B4-BE49-F238E27FC236}">
                <a16:creationId xmlns:a16="http://schemas.microsoft.com/office/drawing/2014/main" id="{40420FD3-0A06-0436-D3A4-96837D4EB68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87"/>
          <a:stretch/>
        </p:blipFill>
        <p:spPr bwMode="auto">
          <a:xfrm>
            <a:off x="737937" y="0"/>
            <a:ext cx="10590433" cy="17165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F1ED9E-B03E-AADD-5318-2A3BC6BF9023}"/>
              </a:ext>
            </a:extLst>
          </p:cNvPr>
          <p:cNvSpPr txBox="1"/>
          <p:nvPr/>
        </p:nvSpPr>
        <p:spPr>
          <a:xfrm>
            <a:off x="1295397" y="1832577"/>
            <a:ext cx="960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baseline="300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7th</a:t>
            </a:r>
            <a:r>
              <a:rPr lang="en-US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Semester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Major Project Phase – I (CSEP23706) 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Review 1</a:t>
            </a:r>
            <a:endParaRPr lang="en-IN" sz="20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C90C19-52FC-CFB5-047F-5C4C7AB83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432204"/>
              </p:ext>
            </p:extLst>
          </p:nvPr>
        </p:nvGraphicFramePr>
        <p:xfrm>
          <a:off x="245265" y="3025867"/>
          <a:ext cx="11701463" cy="3187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6655">
                  <a:extLst>
                    <a:ext uri="{9D8B030D-6E8A-4147-A177-3AD203B41FA5}">
                      <a16:colId xmlns:a16="http://schemas.microsoft.com/office/drawing/2014/main" val="2777636275"/>
                    </a:ext>
                  </a:extLst>
                </a:gridCol>
                <a:gridCol w="4061570">
                  <a:extLst>
                    <a:ext uri="{9D8B030D-6E8A-4147-A177-3AD203B41FA5}">
                      <a16:colId xmlns:a16="http://schemas.microsoft.com/office/drawing/2014/main" val="930982237"/>
                    </a:ext>
                  </a:extLst>
                </a:gridCol>
                <a:gridCol w="2749902">
                  <a:extLst>
                    <a:ext uri="{9D8B030D-6E8A-4147-A177-3AD203B41FA5}">
                      <a16:colId xmlns:a16="http://schemas.microsoft.com/office/drawing/2014/main" val="2160730651"/>
                    </a:ext>
                  </a:extLst>
                </a:gridCol>
                <a:gridCol w="2623336">
                  <a:extLst>
                    <a:ext uri="{9D8B030D-6E8A-4147-A177-3AD203B41FA5}">
                      <a16:colId xmlns:a16="http://schemas.microsoft.com/office/drawing/2014/main" val="26985477"/>
                    </a:ext>
                  </a:extLst>
                </a:gridCol>
              </a:tblGrid>
              <a:tr h="453878"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Group No.</a:t>
                      </a:r>
                      <a:endParaRPr lang="en-IN" sz="22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G14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Project ID</a:t>
                      </a:r>
                      <a:endParaRPr lang="en-IN" sz="2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P43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035671"/>
                  </a:ext>
                </a:extLst>
              </a:tr>
              <a:tr h="453878"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Project Title</a:t>
                      </a:r>
                      <a:endParaRPr lang="en-IN" sz="22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Implementation of a Secure CI/CD Pipeline Using DevOps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sz="24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941917"/>
                  </a:ext>
                </a:extLst>
              </a:tr>
              <a:tr h="453878">
                <a:tc rowSpan="4"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Student Name</a:t>
                      </a:r>
                      <a:endParaRPr lang="en-IN" sz="22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Revanth Kumar T S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USN</a:t>
                      </a:r>
                      <a:endParaRPr lang="en-IN" sz="22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1GA23CS137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18601"/>
                  </a:ext>
                </a:extLst>
              </a:tr>
              <a:tr h="453878">
                <a:tc v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Sanket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1GA23CS148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442161"/>
                  </a:ext>
                </a:extLst>
              </a:tr>
              <a:tr h="453878">
                <a:tc v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Shakthi Vel K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1GA23CS151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726222"/>
                  </a:ext>
                </a:extLst>
              </a:tr>
              <a:tr h="453878">
                <a:tc v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Vignesh P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1GA23CS193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284577"/>
                  </a:ext>
                </a:extLst>
              </a:tr>
              <a:tr h="453878"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Guide Name</a:t>
                      </a:r>
                      <a:endParaRPr lang="en-IN" sz="2200" b="1" kern="12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Prof. Sameena H S</a:t>
                      </a:r>
                      <a:r>
                        <a:rPr lang="en-IN" sz="2400" dirty="0"/>
                        <a:t> </a:t>
                      </a: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 Assistant Professor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224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144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9C1741-F608-45C9-6668-19733C50868C}"/>
              </a:ext>
            </a:extLst>
          </p:cNvPr>
          <p:cNvSpPr txBox="1"/>
          <p:nvPr/>
        </p:nvSpPr>
        <p:spPr>
          <a:xfrm>
            <a:off x="2798445" y="182880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Agenda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F745C16F-33D2-99EB-7E0E-85A0DC9ADD16}"/>
              </a:ext>
            </a:extLst>
          </p:cNvPr>
          <p:cNvSpPr txBox="1">
            <a:spLocks/>
          </p:cNvSpPr>
          <p:nvPr/>
        </p:nvSpPr>
        <p:spPr>
          <a:xfrm>
            <a:off x="851846" y="1002233"/>
            <a:ext cx="9438565" cy="50983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Design Diagrams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Requirements Specification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Implementation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272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470246" y="182880"/>
            <a:ext cx="7492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4479" y="1353788"/>
            <a:ext cx="5418161" cy="4190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DevSecOps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CI/CD architecture automates the software lifecycle where code pushed to GitHub triggers Jenkins for build, testing, and security scanning using SonarQube and OWASP ZAP/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Trivy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application is then containerized with Docker, deployed using Kubernetes on cloud platforms (AWS/Azure), and continuously monitored using Prometheus and Grafana.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96200" y="4857540"/>
            <a:ext cx="3343404" cy="380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Fig.1 : </a:t>
            </a:r>
            <a:r>
              <a:rPr lang="en-US" sz="1400" b="1" dirty="0" err="1"/>
              <a:t>DevSecOps</a:t>
            </a:r>
            <a:r>
              <a:rPr lang="en-US" sz="1400" b="1" dirty="0"/>
              <a:t> CI/CD architecture</a:t>
            </a:r>
            <a:endParaRPr lang="en-IN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8F5486-85E0-64E3-7C12-07D51C8C02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53788"/>
            <a:ext cx="5931477" cy="342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285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470246" y="182880"/>
            <a:ext cx="7492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Data Flow Diagram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6853" y="1337480"/>
            <a:ext cx="105633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Definition: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Data Flow Diagram is a graphical representation that shows how data moves through a system. It illustrates the inputs, outputs, processes, and data stores within a system without showing control flow or timing.</a:t>
            </a:r>
          </a:p>
        </p:txBody>
      </p:sp>
    </p:spTree>
    <p:extLst>
      <p:ext uri="{BB962C8B-B14F-4D97-AF65-F5344CB8AC3E}">
        <p14:creationId xmlns:p14="http://schemas.microsoft.com/office/powerpoint/2010/main" val="1527851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470246" y="182880"/>
            <a:ext cx="7492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Data Flow Diagram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0999" y="1064525"/>
            <a:ext cx="1109676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DFD Level 0 — Context Diagram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topmost level of DFD that represents the entire system as a single process. It shows how the system interacts with the outside world.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DFD Level 1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Level 1 breaks the single process of Level 0 into major sub-processes (main functions of the system). Data stores are introduced at this level.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DFD Level 2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Level 2 further decomposes each Level 1 process into detailed sub-processes. Each major process from Level 1 gets its own Level 2 DFD.</a:t>
            </a:r>
          </a:p>
        </p:txBody>
      </p:sp>
    </p:spTree>
    <p:extLst>
      <p:ext uri="{BB962C8B-B14F-4D97-AF65-F5344CB8AC3E}">
        <p14:creationId xmlns:p14="http://schemas.microsoft.com/office/powerpoint/2010/main" val="3624662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470246" y="182880"/>
            <a:ext cx="7492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Data Flow Diagram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Level 0 DFD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95D795-0615-9072-CD49-A5B5D2EB28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854" y="1916927"/>
            <a:ext cx="5760720" cy="38404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0AF618-5D44-414C-C3F6-6AA7D072D11F}"/>
              </a:ext>
            </a:extLst>
          </p:cNvPr>
          <p:cNvSpPr txBox="1"/>
          <p:nvPr/>
        </p:nvSpPr>
        <p:spPr>
          <a:xfrm>
            <a:off x="7752080" y="5886708"/>
            <a:ext cx="3128386" cy="38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Fig. 2.1 : DFD Level 0 </a:t>
            </a:r>
            <a:r>
              <a:rPr lang="en-US" sz="1400" b="1" dirty="0" err="1"/>
              <a:t>DevSecOps</a:t>
            </a:r>
            <a:r>
              <a:rPr lang="en-US" sz="1400" b="1" dirty="0"/>
              <a:t> CI/CD</a:t>
            </a:r>
            <a:endParaRPr lang="en-IN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054D0D-9DF9-7888-522B-B8E5844FFB3D}"/>
              </a:ext>
            </a:extLst>
          </p:cNvPr>
          <p:cNvSpPr txBox="1"/>
          <p:nvPr/>
        </p:nvSpPr>
        <p:spPr>
          <a:xfrm>
            <a:off x="273426" y="1795540"/>
            <a:ext cx="6268720" cy="326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Level 0 DFD shows how the developer commits source code to the Secure DevOps CI/CD system, which processes it through code repository, security scanning, and deployment environment.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system then performs security analysis and deployment while continuously monitoring logs and performance using Prometheus and Grafana.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958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470246" y="182880"/>
            <a:ext cx="7492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Data Flow Diagram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Level 1 DFD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0A0292-82DC-F607-3BB6-CEA231BEEB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080" y="1757680"/>
            <a:ext cx="5402580" cy="36017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AFC699-4E89-D47A-7B87-7B58480B8F4E}"/>
              </a:ext>
            </a:extLst>
          </p:cNvPr>
          <p:cNvSpPr txBox="1"/>
          <p:nvPr/>
        </p:nvSpPr>
        <p:spPr>
          <a:xfrm>
            <a:off x="111761" y="1757680"/>
            <a:ext cx="5984239" cy="3728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Level 1 DFD breaks the Secure DevOps pipeline into four processes: Source Code Management, Build &amp; Test Automation, Security Scanning, and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Dockerization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&amp; Deployment.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Code from the developer is stored in the repository, tested and scanned for vulnerabilities, deployed as containers, and monitored using Prometheus and Grafana for logs and metrics.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CE9AB-19AA-1F7D-7472-800B167E775F}"/>
              </a:ext>
            </a:extLst>
          </p:cNvPr>
          <p:cNvSpPr txBox="1"/>
          <p:nvPr/>
        </p:nvSpPr>
        <p:spPr>
          <a:xfrm>
            <a:off x="7498974" y="5502333"/>
            <a:ext cx="4131686" cy="38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Fig. 2.2 : DFD Level 0 </a:t>
            </a:r>
            <a:r>
              <a:rPr lang="en-US" sz="1400" b="1" dirty="0" err="1"/>
              <a:t>DevSecOps</a:t>
            </a:r>
            <a:r>
              <a:rPr lang="en-US" sz="1400" b="1" dirty="0"/>
              <a:t> CI/CD</a:t>
            </a:r>
            <a:endParaRPr lang="en-IN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714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470246" y="182880"/>
            <a:ext cx="7492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Data Flow Diagram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Level 2 DFD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48F0CE-B60A-6272-D2CD-F578473C3D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556" y="1679335"/>
            <a:ext cx="5554980" cy="3703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A9E747-7367-CDBC-68E3-1E4856DCEB2F}"/>
              </a:ext>
            </a:extLst>
          </p:cNvPr>
          <p:cNvSpPr txBox="1"/>
          <p:nvPr/>
        </p:nvSpPr>
        <p:spPr>
          <a:xfrm>
            <a:off x="260445" y="1865188"/>
            <a:ext cx="5715000" cy="326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Level 2 DFD details the Source Code Management process, where developers update the repository, manage versions, create pull requests, and review code changes.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After review and approval, the code is merged and stored in the source code repository, making it ready for the CI/CD pipeline.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5264F3-F62B-1711-9CB7-5E1DD59F5F6E}"/>
              </a:ext>
            </a:extLst>
          </p:cNvPr>
          <p:cNvSpPr txBox="1"/>
          <p:nvPr/>
        </p:nvSpPr>
        <p:spPr>
          <a:xfrm>
            <a:off x="7498974" y="5593773"/>
            <a:ext cx="3991986" cy="38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Fig. 2.3 : DFD Level 0 </a:t>
            </a:r>
            <a:r>
              <a:rPr lang="en-US" sz="1400" b="1" dirty="0" err="1"/>
              <a:t>DevSecOps</a:t>
            </a:r>
            <a:r>
              <a:rPr lang="en-US" sz="1400" b="1" dirty="0"/>
              <a:t> CI/CD</a:t>
            </a:r>
            <a:endParaRPr lang="en-IN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836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470246" y="182880"/>
            <a:ext cx="7492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Requirements Specification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8195" y="1227061"/>
            <a:ext cx="10676741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Hardware Requirements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Minimum Hardware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Processor: Intel i5 / AMD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Ryzen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RAM: 8 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Storage: 256 GB SSD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Internet connection (for GitHub, updates, plugins)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Recommended Hardware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Processor: Intel i7 / AMD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Ryzen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RAM: 16 GB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Storage: 512 GB SSD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Virtualization support enabled (for Docker &amp; Jenkins)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435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DC075-8C9D-5E78-3474-26E54DC5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1FF1A2-3D36-3212-6161-A8C1B0664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6CBFBB-6DA9-0C2F-9972-578C6FBF8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C609B-A2E3-241F-436E-96331840B2A1}"/>
              </a:ext>
            </a:extLst>
          </p:cNvPr>
          <p:cNvSpPr txBox="1"/>
          <p:nvPr/>
        </p:nvSpPr>
        <p:spPr>
          <a:xfrm>
            <a:off x="2470246" y="182880"/>
            <a:ext cx="7492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Requirements Specification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B8E76-DB02-C536-ADB4-2070C0F35FCB}"/>
              </a:ext>
            </a:extLst>
          </p:cNvPr>
          <p:cNvSpPr/>
          <p:nvPr/>
        </p:nvSpPr>
        <p:spPr>
          <a:xfrm>
            <a:off x="586591" y="1226046"/>
            <a:ext cx="11219329" cy="4836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Software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Operating System  :  Windows 11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(64-bit)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Git / GitHub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– Version control and source code repository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Jenkins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– CI/CD automation tool for build and testing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SonarQube –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Static code analysis for vulnerability detection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OWASP ZAP /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Trivy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Security scanning tools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Docker –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Containerization platform for application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Kubernetes –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Container orchestration for deployment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Prometheus &amp; Grafana –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Monitoring and logging tools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AWS / Azure Cloud –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Cloud platform for hosting and deployment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997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798445" y="182880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Implementation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D121C-764E-8C3D-FB14-0491DCF40374}"/>
              </a:ext>
            </a:extLst>
          </p:cNvPr>
          <p:cNvSpPr txBox="1"/>
          <p:nvPr/>
        </p:nvSpPr>
        <p:spPr>
          <a:xfrm>
            <a:off x="619760" y="1278965"/>
            <a:ext cx="1008888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IN" sz="2000" dirty="0"/>
              <a:t>Configure GitHub repository.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IN" sz="2000" dirty="0"/>
              <a:t>Integrate GitHub with Jenkins.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IN" sz="2000" dirty="0"/>
              <a:t>Create Jenkins pipeline.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IN" sz="2000" dirty="0"/>
              <a:t>Run SonarQube analysis.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IN" sz="2000" dirty="0"/>
              <a:t>Perform OWASP ZAP and </a:t>
            </a:r>
            <a:r>
              <a:rPr lang="en-IN" sz="2000" dirty="0" err="1"/>
              <a:t>Trivy</a:t>
            </a:r>
            <a:r>
              <a:rPr lang="en-IN" sz="2000" dirty="0"/>
              <a:t> scans.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IN" sz="2000" dirty="0"/>
              <a:t>Build Docker image and deploy on Kubernetes.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200"/>
            </a:pPr>
            <a:r>
              <a:rPr lang="en-IN" sz="2000" dirty="0"/>
              <a:t>Monitor using Prometheus and Grafana.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003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74517-BA5D-B69D-3141-6154EC0EE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4B34B0-A60F-9174-E713-C078D8B39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9399BA-0F53-8DD9-1FE2-793962D19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63331-42F3-3DF5-1030-28A76F8E4889}"/>
              </a:ext>
            </a:extLst>
          </p:cNvPr>
          <p:cNvSpPr txBox="1"/>
          <p:nvPr/>
        </p:nvSpPr>
        <p:spPr>
          <a:xfrm>
            <a:off x="2798445" y="182880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370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72F46-969D-4636-296E-04CA4D23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6EA27A-4923-24E8-011E-FFFA3415B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15E85A-D15A-E9AE-7891-34B9F21E8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A4983A-9B17-E619-1FD1-B0AB4CA9F4C4}"/>
              </a:ext>
            </a:extLst>
          </p:cNvPr>
          <p:cNvSpPr txBox="1"/>
          <p:nvPr/>
        </p:nvSpPr>
        <p:spPr>
          <a:xfrm>
            <a:off x="2730389" y="2775955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Q &amp; A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394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Dept. of CSE | GAT | 2025-26                                                                                                           CSEP23706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FAE6D68-FB99-4243-9CC1-93FAA8C005BC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65176-27C0-6A9C-1D22-589841C6C443}"/>
              </a:ext>
            </a:extLst>
          </p:cNvPr>
          <p:cNvSpPr txBox="1"/>
          <p:nvPr/>
        </p:nvSpPr>
        <p:spPr>
          <a:xfrm>
            <a:off x="2580264" y="2735011"/>
            <a:ext cx="6595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483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814</Words>
  <Application>Microsoft Office PowerPoint</Application>
  <PresentationFormat>Widescreen</PresentationFormat>
  <Paragraphs>119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Dilip Raj</cp:lastModifiedBy>
  <cp:revision>63</cp:revision>
  <dcterms:created xsi:type="dcterms:W3CDTF">2026-02-18T04:52:12Z</dcterms:created>
  <dcterms:modified xsi:type="dcterms:W3CDTF">2026-07-22T17:03:30Z</dcterms:modified>
</cp:coreProperties>
</file>